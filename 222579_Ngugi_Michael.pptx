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e Nganga" userId="49ba28676abfd06c" providerId="LiveId" clId="{D99C0020-B8A4-4942-B67E-4995EDFCEB54}"/>
    <pc:docChg chg="modSld">
      <pc:chgData name="Mike Nganga" userId="49ba28676abfd06c" providerId="LiveId" clId="{D99C0020-B8A4-4942-B67E-4995EDFCEB54}" dt="2026-09-08T13:20:00.280" v="0" actId="20577"/>
      <pc:docMkLst>
        <pc:docMk/>
      </pc:docMkLst>
      <pc:sldChg chg="modSp mod">
        <pc:chgData name="Mike Nganga" userId="49ba28676abfd06c" providerId="LiveId" clId="{D99C0020-B8A4-4942-B67E-4995EDFCEB54}" dt="2026-09-08T13:20:00.280" v="0" actId="20577"/>
        <pc:sldMkLst>
          <pc:docMk/>
          <pc:sldMk cId="0" sldId="269"/>
        </pc:sldMkLst>
        <pc:spChg chg="mod">
          <ac:chgData name="Mike Nganga" userId="49ba28676abfd06c" providerId="LiveId" clId="{D99C0020-B8A4-4942-B67E-4995EDFCEB54}" dt="2026-09-08T13:20:00.280" v="0" actId="20577"/>
          <ac:spMkLst>
            <pc:docMk/>
            <pc:sldMk cId="0" sldId="269"/>
            <ac:spMk id="9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854-42D7-889D-FFFD78714C5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854-42D7-889D-FFFD78714C5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854-42D7-889D-FFFD78714C5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B854-42D7-889D-FFFD78714C5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B854-42D7-889D-FFFD78714C55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B854-42D7-889D-FFFD78714C55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B854-42D7-889D-FFFD78714C55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B854-42D7-889D-FFFD78714C55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B854-42D7-889D-FFFD78714C55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B854-42D7-889D-FFFD78714C5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1F1F"/>
                    </a:solidFill>
                    <a:latin typeface="Arial"/>
                  </a:defRPr>
                </a:pPr>
                <a:endParaRPr lang="en-K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Romantic Movies</c:v>
                </c:pt>
                <c:pt idx="1">
                  <c:v>Children &amp; Family Movies</c:v>
                </c:pt>
                <c:pt idx="2">
                  <c:v>Independent Movies</c:v>
                </c:pt>
                <c:pt idx="3">
                  <c:v>TV Dramas</c:v>
                </c:pt>
                <c:pt idx="4">
                  <c:v>Action &amp; Adventure</c:v>
                </c:pt>
                <c:pt idx="5">
                  <c:v>Documentaries</c:v>
                </c:pt>
                <c:pt idx="6">
                  <c:v>International TV Shows</c:v>
                </c:pt>
                <c:pt idx="7">
                  <c:v>Comedies</c:v>
                </c:pt>
                <c:pt idx="8">
                  <c:v>Dramas</c:v>
                </c:pt>
                <c:pt idx="9">
                  <c:v>International Movies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531</c:v>
                </c:pt>
                <c:pt idx="1">
                  <c:v>532</c:v>
                </c:pt>
                <c:pt idx="2">
                  <c:v>673</c:v>
                </c:pt>
                <c:pt idx="3">
                  <c:v>703</c:v>
                </c:pt>
                <c:pt idx="4">
                  <c:v>721</c:v>
                </c:pt>
                <c:pt idx="5">
                  <c:v>786</c:v>
                </c:pt>
                <c:pt idx="6">
                  <c:v>1197</c:v>
                </c:pt>
                <c:pt idx="7">
                  <c:v>1471</c:v>
                </c:pt>
                <c:pt idx="8">
                  <c:v>2105</c:v>
                </c:pt>
                <c:pt idx="9">
                  <c:v>2437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B854-42D7-889D-FFFD78714C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1F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 Added</c:v>
                </c:pt>
              </c:strCache>
            </c:strRef>
          </c:tx>
          <c:spPr>
            <a:ln w="381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  <c:pt idx="13">
                  <c:v>2021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13</c:v>
                </c:pt>
                <c:pt idx="4">
                  <c:v>3</c:v>
                </c:pt>
                <c:pt idx="5">
                  <c:v>11</c:v>
                </c:pt>
                <c:pt idx="6">
                  <c:v>25</c:v>
                </c:pt>
                <c:pt idx="7">
                  <c:v>88</c:v>
                </c:pt>
                <c:pt idx="8">
                  <c:v>440</c:v>
                </c:pt>
                <c:pt idx="9">
                  <c:v>1222</c:v>
                </c:pt>
                <c:pt idx="10">
                  <c:v>1684</c:v>
                </c:pt>
                <c:pt idx="11">
                  <c:v>2153</c:v>
                </c:pt>
                <c:pt idx="12">
                  <c:v>2009</c:v>
                </c:pt>
                <c:pt idx="13">
                  <c:v>117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FB7-4D82-B5F2-8D4A5D1D92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0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B99-483E-B601-6C02C1CC6035}"/>
              </c:ext>
            </c:extLst>
          </c:dPt>
          <c:dPt>
            <c:idx val="1"/>
            <c:bubble3D val="0"/>
            <c:spPr>
              <a:solidFill>
                <a:srgbClr val="221F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B99-483E-B601-6C02C1CC603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K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B99-483E-B601-6C02C1CC603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K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B99-483E-B601-6C02C1CC603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KE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Movie</c:v>
                </c:pt>
                <c:pt idx="1">
                  <c:v>TV Show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5372</c:v>
                </c:pt>
                <c:pt idx="1">
                  <c:v>2398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B99-483E-B601-6C02C1CC60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221F1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966-4431-B71F-E10FA71BAC0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966-4431-B71F-E10FA71BAC0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966-4431-B71F-E10FA71BAC0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966-4431-B71F-E10FA71BAC0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966-4431-B71F-E10FA71BAC07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0966-4431-B71F-E10FA71BAC07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0966-4431-B71F-E10FA71BAC07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0966-4431-B71F-E10FA71BAC07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0966-4431-B71F-E10FA71BAC07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0966-4431-B71F-E10FA71BAC0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21F1F"/>
                    </a:solidFill>
                    <a:latin typeface="Arial"/>
                  </a:defRPr>
                </a:pPr>
                <a:endParaRPr lang="en-K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Mexico</c:v>
                </c:pt>
                <c:pt idx="1">
                  <c:v>Germany</c:v>
                </c:pt>
                <c:pt idx="2">
                  <c:v>South Korea</c:v>
                </c:pt>
                <c:pt idx="3">
                  <c:v>Spain</c:v>
                </c:pt>
                <c:pt idx="4">
                  <c:v>Japan</c:v>
                </c:pt>
                <c:pt idx="5">
                  <c:v>France</c:v>
                </c:pt>
                <c:pt idx="6">
                  <c:v>Canada</c:v>
                </c:pt>
                <c:pt idx="7">
                  <c:v>United Kingdom</c:v>
                </c:pt>
                <c:pt idx="8">
                  <c:v>India</c:v>
                </c:pt>
                <c:pt idx="9">
                  <c:v>United States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154</c:v>
                </c:pt>
                <c:pt idx="1">
                  <c:v>199</c:v>
                </c:pt>
                <c:pt idx="2">
                  <c:v>212</c:v>
                </c:pt>
                <c:pt idx="3">
                  <c:v>215</c:v>
                </c:pt>
                <c:pt idx="4">
                  <c:v>285</c:v>
                </c:pt>
                <c:pt idx="5">
                  <c:v>349</c:v>
                </c:pt>
                <c:pt idx="6">
                  <c:v>412</c:v>
                </c:pt>
                <c:pt idx="7">
                  <c:v>721</c:v>
                </c:pt>
                <c:pt idx="8">
                  <c:v>990</c:v>
                </c:pt>
                <c:pt idx="9">
                  <c:v>3287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0966-4431-B71F-E10FA71BAC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21F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Duration (min)</c:v>
                </c:pt>
              </c:strCache>
            </c:strRef>
          </c:tx>
          <c:spPr>
            <a:ln w="381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1F1F"/>
                    </a:solidFill>
                    <a:latin typeface="Arial"/>
                  </a:defRPr>
                </a:pPr>
                <a:endParaRPr lang="en-K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82.8</c:v>
                </c:pt>
                <c:pt idx="1">
                  <c:v>83.9</c:v>
                </c:pt>
                <c:pt idx="2">
                  <c:v>95.9</c:v>
                </c:pt>
                <c:pt idx="3">
                  <c:v>101.7</c:v>
                </c:pt>
                <c:pt idx="4">
                  <c:v>100.5</c:v>
                </c:pt>
                <c:pt idx="5">
                  <c:v>101.8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218-4DCE-BF5B-63C10C248BE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6B6B"/>
                    </a:solidFill>
                    <a:latin typeface="Arial"/>
                  </a:defRPr>
                </a:pPr>
                <a:r>
                  <a:rPr lang="en-GB" sz="1000" b="0" i="0" u="none" strike="noStrike">
                    <a:solidFill>
                      <a:srgbClr val="6B6B6B"/>
                    </a:solidFill>
                    <a:latin typeface="Arial"/>
                  </a:rPr>
                  <a:t>Minutes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Dramas</c:v>
                </c:pt>
              </c:strCache>
            </c:strRef>
          </c:tx>
          <c:spPr>
            <a:ln w="31750" cap="flat">
              <a:solidFill>
                <a:srgbClr val="F5A62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67</c:v>
                </c:pt>
                <c:pt idx="1">
                  <c:v>296</c:v>
                </c:pt>
                <c:pt idx="2">
                  <c:v>534</c:v>
                </c:pt>
                <c:pt idx="3">
                  <c:v>596</c:v>
                </c:pt>
                <c:pt idx="4">
                  <c:v>547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D8B-41F3-A7F1-DA0CF370D8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Comedies</c:v>
                </c:pt>
              </c:strCache>
            </c:strRef>
          </c:tx>
          <c:spPr>
            <a:ln w="31750" cap="flat">
              <a:solidFill>
                <a:srgbClr val="221F1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21F1F"/>
              </a:solidFill>
              <a:ln w="9525" cap="flat">
                <a:solidFill>
                  <a:srgbClr val="221F1F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49</c:v>
                </c:pt>
                <c:pt idx="1">
                  <c:v>191</c:v>
                </c:pt>
                <c:pt idx="2">
                  <c:v>301</c:v>
                </c:pt>
                <c:pt idx="3">
                  <c:v>452</c:v>
                </c:pt>
                <c:pt idx="4">
                  <c:v>424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D8B-41F3-A7F1-DA0CF370D85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Action &amp; Adventure</c:v>
                </c:pt>
              </c:strCache>
            </c:strRef>
          </c:tx>
          <c:spPr>
            <a:ln w="31750" cap="flat">
              <a:solidFill>
                <a:srgbClr val="B2071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B20710"/>
              </a:solidFill>
              <a:ln w="9525" cap="flat">
                <a:solidFill>
                  <a:srgbClr val="B2071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20</c:v>
                </c:pt>
                <c:pt idx="1">
                  <c:v>106</c:v>
                </c:pt>
                <c:pt idx="2">
                  <c:v>178</c:v>
                </c:pt>
                <c:pt idx="3">
                  <c:v>222</c:v>
                </c:pt>
                <c:pt idx="4">
                  <c:v>176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D8B-41F3-A7F1-DA0CF370D85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Children &amp; Family Movies</c:v>
                </c:pt>
              </c:strCache>
            </c:strRef>
          </c:tx>
          <c:spPr>
            <a:ln w="31750" cap="flat">
              <a:solidFill>
                <a:srgbClr val="F0808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08080"/>
              </a:solidFill>
              <a:ln w="9525" cap="flat">
                <a:solidFill>
                  <a:srgbClr val="F0808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20</c:v>
                </c:pt>
                <c:pt idx="1">
                  <c:v>77</c:v>
                </c:pt>
                <c:pt idx="2">
                  <c:v>85</c:v>
                </c:pt>
                <c:pt idx="3">
                  <c:v>148</c:v>
                </c:pt>
                <c:pt idx="4">
                  <c:v>171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D8B-41F3-A7F1-DA0CF370D85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Romantic Movies</c:v>
                </c:pt>
              </c:strCache>
            </c:strRef>
          </c:tx>
          <c:spPr>
            <a:ln w="31750" cap="flat">
              <a:solidFill>
                <a:srgbClr val="E50914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50914"/>
              </a:solidFill>
              <a:ln w="9525" cap="flat">
                <a:solidFill>
                  <a:srgbClr val="E50914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7</c:v>
                </c:pt>
                <c:pt idx="1">
                  <c:v>68</c:v>
                </c:pt>
                <c:pt idx="2">
                  <c:v>111</c:v>
                </c:pt>
                <c:pt idx="3">
                  <c:v>157</c:v>
                </c:pt>
                <c:pt idx="4">
                  <c:v>179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D8B-41F3-A7F1-DA0CF370D8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21F1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Growth</c:v>
                </c:pt>
              </c:strCache>
            </c:strRef>
          </c:tx>
          <c:spPr>
            <a:solidFill>
              <a:srgbClr val="221F1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13F-4CDE-BE16-4F37ED04944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13F-4CDE-BE16-4F37ED04944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13F-4CDE-BE16-4F37ED04944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13F-4CDE-BE16-4F37ED04944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513F-4CDE-BE16-4F37ED049443}"/>
              </c:ext>
            </c:extLst>
          </c:dPt>
          <c:dPt>
            <c:idx val="5"/>
            <c:invertIfNegative val="0"/>
            <c:bubble3D val="0"/>
            <c:spPr>
              <a:solidFill>
                <a:srgbClr val="E50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13F-4CDE-BE16-4F37ED049443}"/>
              </c:ext>
            </c:extLst>
          </c:dPt>
          <c:dPt>
            <c:idx val="6"/>
            <c:invertIfNegative val="0"/>
            <c:bubble3D val="0"/>
            <c:spPr>
              <a:solidFill>
                <a:srgbClr val="E50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13F-4CDE-BE16-4F37ED049443}"/>
              </c:ext>
            </c:extLst>
          </c:dPt>
          <c:dPt>
            <c:idx val="7"/>
            <c:invertIfNegative val="0"/>
            <c:bubble3D val="0"/>
            <c:spPr>
              <a:solidFill>
                <a:srgbClr val="E50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13F-4CDE-BE16-4F37ED049443}"/>
              </c:ext>
            </c:extLst>
          </c:dPt>
          <c:dPt>
            <c:idx val="8"/>
            <c:invertIfNegative val="0"/>
            <c:bubble3D val="0"/>
            <c:spPr>
              <a:solidFill>
                <a:srgbClr val="E50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13F-4CDE-BE16-4F37ED049443}"/>
              </c:ext>
            </c:extLst>
          </c:dPt>
          <c:dPt>
            <c:idx val="9"/>
            <c:invertIfNegative val="0"/>
            <c:bubble3D val="0"/>
            <c:spPr>
              <a:solidFill>
                <a:srgbClr val="E50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513F-4CDE-BE16-4F37ED049443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1F1F"/>
                    </a:solidFill>
                    <a:latin typeface="Arial"/>
                  </a:defRPr>
                </a:pPr>
                <a:endParaRPr lang="en-K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Documentaries</c:v>
                </c:pt>
                <c:pt idx="1">
                  <c:v>TV Dramas</c:v>
                </c:pt>
                <c:pt idx="2">
                  <c:v>International TV Shows</c:v>
                </c:pt>
                <c:pt idx="3">
                  <c:v>Independent Movies</c:v>
                </c:pt>
                <c:pt idx="4">
                  <c:v>International Movies</c:v>
                </c:pt>
                <c:pt idx="5">
                  <c:v>Dramas</c:v>
                </c:pt>
                <c:pt idx="6">
                  <c:v>Action &amp; Adventure</c:v>
                </c:pt>
                <c:pt idx="7">
                  <c:v>Children &amp; Family Movies</c:v>
                </c:pt>
                <c:pt idx="8">
                  <c:v>Comedies</c:v>
                </c:pt>
                <c:pt idx="9">
                  <c:v>Romantic Movies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12.4</c:v>
                </c:pt>
                <c:pt idx="1">
                  <c:v>118.6</c:v>
                </c:pt>
                <c:pt idx="2">
                  <c:v>124.2</c:v>
                </c:pt>
                <c:pt idx="3">
                  <c:v>136.5</c:v>
                </c:pt>
                <c:pt idx="4">
                  <c:v>142.30000000000001</c:v>
                </c:pt>
                <c:pt idx="5">
                  <c:v>214.9</c:v>
                </c:pt>
                <c:pt idx="6">
                  <c:v>215.9</c:v>
                </c:pt>
                <c:pt idx="7">
                  <c:v>228.9</c:v>
                </c:pt>
                <c:pt idx="8">
                  <c:v>265</c:v>
                </c:pt>
                <c:pt idx="9">
                  <c:v>348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513F-4CDE-BE16-4F37ED0494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1F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Missing Country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24B-4C38-9C78-DF3BDEB8534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24B-4C38-9C78-DF3BDEB8534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24B-4C38-9C78-DF3BDEB8534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24B-4C38-9C78-DF3BDEB85348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24B-4C38-9C78-DF3BDEB85348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024B-4C38-9C78-DF3BDEB85348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024B-4C38-9C78-DF3BDEB85348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024B-4C38-9C78-DF3BDEB85348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024B-4C38-9C78-DF3BDEB85348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024B-4C38-9C78-DF3BDEB85348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1F1F"/>
                    </a:solidFill>
                    <a:latin typeface="Arial"/>
                  </a:defRPr>
                </a:pPr>
                <a:endParaRPr lang="en-K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Independent Movies</c:v>
                </c:pt>
                <c:pt idx="1">
                  <c:v>Romantic Movies</c:v>
                </c:pt>
                <c:pt idx="2">
                  <c:v>Action &amp; Adventure</c:v>
                </c:pt>
                <c:pt idx="3">
                  <c:v>Dramas</c:v>
                </c:pt>
                <c:pt idx="4">
                  <c:v>Comedies</c:v>
                </c:pt>
                <c:pt idx="5">
                  <c:v>International Movies</c:v>
                </c:pt>
                <c:pt idx="6">
                  <c:v>Documentaries</c:v>
                </c:pt>
                <c:pt idx="7">
                  <c:v>Children &amp; Family Movies</c:v>
                </c:pt>
                <c:pt idx="8">
                  <c:v>TV Dramas</c:v>
                </c:pt>
                <c:pt idx="9">
                  <c:v>International TV Shows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0.4</c:v>
                </c:pt>
                <c:pt idx="1">
                  <c:v>1.9</c:v>
                </c:pt>
                <c:pt idx="2">
                  <c:v>2.1</c:v>
                </c:pt>
                <c:pt idx="3">
                  <c:v>2.1</c:v>
                </c:pt>
                <c:pt idx="4">
                  <c:v>2.9</c:v>
                </c:pt>
                <c:pt idx="5">
                  <c:v>3.9</c:v>
                </c:pt>
                <c:pt idx="6">
                  <c:v>5.6</c:v>
                </c:pt>
                <c:pt idx="7">
                  <c:v>10</c:v>
                </c:pt>
                <c:pt idx="8">
                  <c:v>11.5</c:v>
                </c:pt>
                <c:pt idx="9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024B-4C38-9C78-DF3BDEB853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21F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844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8412480" y="2926080"/>
            <a:ext cx="5486400" cy="5486400"/>
          </a:xfrm>
          <a:prstGeom prst="triangle">
            <a:avLst/>
          </a:prstGeom>
          <a:solidFill>
            <a:srgbClr val="E50914">
              <a:alpha val="10000"/>
            </a:srgbClr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Shape 1"/>
          <p:cNvSpPr/>
          <p:nvPr/>
        </p:nvSpPr>
        <p:spPr>
          <a:xfrm rot="5400000">
            <a:off x="-2286000" y="-2286000"/>
            <a:ext cx="3657600" cy="3657600"/>
          </a:xfrm>
          <a:prstGeom prst="triangle">
            <a:avLst/>
          </a:prstGeom>
          <a:solidFill>
            <a:srgbClr val="E50914">
              <a:alpha val="8000"/>
            </a:srgbClr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4" name="Text 2"/>
          <p:cNvSpPr txBox="1"/>
          <p:nvPr/>
        </p:nvSpPr>
        <p:spPr>
          <a:xfrm>
            <a:off x="0" y="196596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10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06324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Strategy &amp; Growth: A Data-Driven Analysis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65760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has Netflix's content genre mix grown — and how reliable is that story?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60350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CDAV Capstone Project  •  Michael Ngugi  •  July 2026 Cohort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258568" cy="384048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Shape 1"/>
          <p:cNvSpPr/>
          <p:nvPr/>
        </p:nvSpPr>
        <p:spPr>
          <a:xfrm rot="5400000">
            <a:off x="704088" y="507492"/>
            <a:ext cx="118872" cy="137160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4" name="Text 2"/>
          <p:cNvSpPr txBox="1"/>
          <p:nvPr/>
        </p:nvSpPr>
        <p:spPr>
          <a:xfrm>
            <a:off x="886968" y="3657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96112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Netflix Actually Investing?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916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adds thousands of new titles every year — but not evenly across genres. This project asks three linked questions using Netflix's own title catalog.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026768" y="2743200"/>
            <a:ext cx="731520" cy="731520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8" name="Text 6"/>
          <p:cNvSpPr txBox="1"/>
          <p:nvPr/>
        </p:nvSpPr>
        <p:spPr>
          <a:xfrm>
            <a:off x="2026768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00888" y="3611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Mix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38048" y="40233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has the mix of genres on Netflix changed over time?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30088" y="2743200"/>
            <a:ext cx="731520" cy="731520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2" name="Text 10"/>
          <p:cNvSpPr txBox="1"/>
          <p:nvPr/>
        </p:nvSpPr>
        <p:spPr>
          <a:xfrm>
            <a:off x="5730088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404208" y="3611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Areas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41368" y="40233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genres represent Netflix's most active investment?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433408" y="2743200"/>
            <a:ext cx="731520" cy="731520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6" name="Text 14"/>
          <p:cNvSpPr txBox="1"/>
          <p:nvPr/>
        </p:nvSpPr>
        <p:spPr>
          <a:xfrm>
            <a:off x="9433408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107528" y="3611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44688" y="40233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confident can we be, given gaps in the metadata?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Shape 1"/>
          <p:cNvSpPr/>
          <p:nvPr/>
        </p:nvSpPr>
        <p:spPr>
          <a:xfrm rot="5400000">
            <a:off x="704088" y="507492"/>
            <a:ext cx="118872" cy="137160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4" name="Text 2"/>
          <p:cNvSpPr txBox="1"/>
          <p:nvPr/>
        </p:nvSpPr>
        <p:spPr>
          <a:xfrm>
            <a:off x="886968" y="36576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96112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7,787 Titles, One Streaming Giant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23748" y="192024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BECEC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7" name="Text 5"/>
          <p:cNvSpPr txBox="1"/>
          <p:nvPr/>
        </p:nvSpPr>
        <p:spPr>
          <a:xfrm>
            <a:off x="723748" y="20574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7,787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23748" y="2697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66948" y="192024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BECEC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0" name="Text 8"/>
          <p:cNvSpPr txBox="1"/>
          <p:nvPr/>
        </p:nvSpPr>
        <p:spPr>
          <a:xfrm>
            <a:off x="3466948" y="20574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466948" y="2697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0148" y="192024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BECEC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3" name="Text 11"/>
          <p:cNvSpPr txBox="1"/>
          <p:nvPr/>
        </p:nvSpPr>
        <p:spPr>
          <a:xfrm>
            <a:off x="6210148" y="20574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2008–2021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210148" y="2697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53348" y="192024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BECEC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6" name="Text 14"/>
          <p:cNvSpPr txBox="1"/>
          <p:nvPr/>
        </p:nvSpPr>
        <p:spPr>
          <a:xfrm>
            <a:off x="8953348" y="20574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953348" y="2697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TidyTuesday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84048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Approach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251960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Dropped rows missing date_added or rating — under 0.2% of data, negligible loss</a:t>
            </a:r>
            <a:endParaRPr lang="en-US" sz="14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Filled missing director, cast, and country with “Unknown” — preserves every title's genre and release data since these fields aren't central to the analysis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369564" cy="384048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Shape 1"/>
          <p:cNvSpPr/>
          <p:nvPr/>
        </p:nvSpPr>
        <p:spPr>
          <a:xfrm rot="5400000">
            <a:off x="704088" y="507492"/>
            <a:ext cx="118872" cy="137160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4" name="Text 2"/>
          <p:cNvSpPr txBox="1"/>
          <p:nvPr/>
        </p:nvSpPr>
        <p:spPr>
          <a:xfrm>
            <a:off x="886968" y="365760"/>
            <a:ext cx="2985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THE CATALOG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96112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Movies &amp; Dramas Lead the Catalog</a:t>
            </a:r>
            <a:endParaRPr lang="en-US" sz="3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31520" y="1691640"/>
          <a:ext cx="1069848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628900" cy="384048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Shape 1"/>
          <p:cNvSpPr/>
          <p:nvPr/>
        </p:nvSpPr>
        <p:spPr>
          <a:xfrm rot="5400000">
            <a:off x="704088" y="507492"/>
            <a:ext cx="118872" cy="137160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4" name="Text 2"/>
          <p:cNvSpPr txBox="1"/>
          <p:nvPr/>
        </p:nvSpPr>
        <p:spPr>
          <a:xfrm>
            <a:off x="886968" y="365760"/>
            <a:ext cx="2244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GROWTH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96112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Niche Add-On to Content Powerhouse</a:t>
            </a:r>
            <a:endParaRPr lang="en-US" sz="3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31520" y="1691640"/>
          <a:ext cx="106984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2021 reflects only a partial year of data at the time of dataset capture.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Shape 1"/>
          <p:cNvSpPr/>
          <p:nvPr/>
        </p:nvSpPr>
        <p:spPr>
          <a:xfrm rot="5400000">
            <a:off x="704088" y="507492"/>
            <a:ext cx="118872" cy="137160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4" name="Text 2"/>
          <p:cNvSpPr txBox="1"/>
          <p:nvPr/>
        </p:nvSpPr>
        <p:spPr>
          <a:xfrm>
            <a:off x="886968" y="36576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MIX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96112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Still Dominate, But TV Shows Hold Steady</a:t>
            </a:r>
            <a:endParaRPr lang="en-US" sz="3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794760" y="1600200"/>
          <a:ext cx="4572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863340" cy="384048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Shape 1"/>
          <p:cNvSpPr/>
          <p:nvPr/>
        </p:nvSpPr>
        <p:spPr>
          <a:xfrm rot="5400000">
            <a:off x="704088" y="507492"/>
            <a:ext cx="118872" cy="137160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4" name="Text 2"/>
          <p:cNvSpPr txBox="1"/>
          <p:nvPr/>
        </p:nvSpPr>
        <p:spPr>
          <a:xfrm>
            <a:off x="886968" y="365760"/>
            <a:ext cx="34792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FOOTPRINT &amp; FORMAT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96112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Genre: Where and How Long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Content-Producing Countries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2057400"/>
          <a:ext cx="57607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0080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Movie Duration Over Time</a:t>
            </a:r>
            <a:endParaRPr lang="en-US" sz="13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400800" y="2057400"/>
          <a:ext cx="52120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752344" cy="384048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Shape 1"/>
          <p:cNvSpPr/>
          <p:nvPr/>
        </p:nvSpPr>
        <p:spPr>
          <a:xfrm rot="5400000">
            <a:off x="704088" y="507492"/>
            <a:ext cx="118872" cy="137160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4" name="Text 2"/>
          <p:cNvSpPr txBox="1"/>
          <p:nvPr/>
        </p:nvSpPr>
        <p:spPr>
          <a:xfrm>
            <a:off x="886968" y="365760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GROWTH STORY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96112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Romance &amp; Comedy Are Netflix's Breakout Genres</a:t>
            </a:r>
            <a:endParaRPr lang="en-US" sz="27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31520" y="1600200"/>
          <a:ext cx="106984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999232" cy="384048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Shape 1"/>
          <p:cNvSpPr/>
          <p:nvPr/>
        </p:nvSpPr>
        <p:spPr>
          <a:xfrm rot="5400000">
            <a:off x="704088" y="507492"/>
            <a:ext cx="118872" cy="137160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4" name="Text 2"/>
          <p:cNvSpPr txBox="1"/>
          <p:nvPr/>
        </p:nvSpPr>
        <p:spPr>
          <a:xfrm>
            <a:off x="886968" y="36576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THE GROWTH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96112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kern="0" spc="-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Romantic Movies Grew 348% — Documentaries Just 12%</a:t>
            </a:r>
            <a:endParaRPr lang="en-US" sz="2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31520" y="1691640"/>
          <a:ext cx="1069848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628900" cy="384048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Shape 1"/>
          <p:cNvSpPr/>
          <p:nvPr/>
        </p:nvSpPr>
        <p:spPr>
          <a:xfrm rot="5400000">
            <a:off x="704088" y="507492"/>
            <a:ext cx="118872" cy="137160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4" name="Text 2"/>
          <p:cNvSpPr txBox="1"/>
          <p:nvPr/>
        </p:nvSpPr>
        <p:spPr>
          <a:xfrm>
            <a:off x="886968" y="365760"/>
            <a:ext cx="2244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TEST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96112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kern="0" spc="-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Shift Actually Shows Up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691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(2016-17)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1691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(2019-20)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1488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Movies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977640" y="2176272"/>
            <a:ext cx="3474720" cy="329184"/>
          </a:xfrm>
          <a:prstGeom prst="rect">
            <a:avLst/>
          </a:prstGeom>
          <a:solidFill>
            <a:srgbClr val="E096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1" name="Text 9"/>
          <p:cNvSpPr txBox="1"/>
          <p:nvPr/>
        </p:nvSpPr>
        <p:spPr>
          <a:xfrm>
            <a:off x="3977640" y="21762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43800" y="2176272"/>
            <a:ext cx="3474720" cy="329184"/>
          </a:xfrm>
          <a:prstGeom prst="rect">
            <a:avLst/>
          </a:prstGeom>
          <a:solidFill>
            <a:srgbClr val="B2071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3" name="Text 11"/>
          <p:cNvSpPr txBox="1"/>
          <p:nvPr/>
        </p:nvSpPr>
        <p:spPr>
          <a:xfrm>
            <a:off x="7543800" y="21762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1219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53288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977640" y="2560320"/>
            <a:ext cx="3474720" cy="329184"/>
          </a:xfrm>
          <a:prstGeom prst="rect">
            <a:avLst/>
          </a:prstGeom>
          <a:solidFill>
            <a:srgbClr val="E9B2B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Text 14"/>
          <p:cNvSpPr txBox="1"/>
          <p:nvPr/>
        </p:nvSpPr>
        <p:spPr>
          <a:xfrm>
            <a:off x="3977640" y="25603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43800" y="2560320"/>
            <a:ext cx="3474720" cy="329184"/>
          </a:xfrm>
          <a:prstGeom prst="rect">
            <a:avLst/>
          </a:prstGeom>
          <a:solidFill>
            <a:srgbClr val="B7161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Text 16"/>
          <p:cNvSpPr txBox="1"/>
          <p:nvPr/>
        </p:nvSpPr>
        <p:spPr>
          <a:xfrm>
            <a:off x="7543800" y="25603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29169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Comedies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977640" y="2944368"/>
            <a:ext cx="3474720" cy="329184"/>
          </a:xfrm>
          <a:prstGeom prst="rect">
            <a:avLst/>
          </a:prstGeom>
          <a:solidFill>
            <a:srgbClr val="F0CBC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Text 19"/>
          <p:cNvSpPr txBox="1"/>
          <p:nvPr/>
        </p:nvSpPr>
        <p:spPr>
          <a:xfrm>
            <a:off x="3977640" y="29443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43800" y="2944368"/>
            <a:ext cx="3474720" cy="329184"/>
          </a:xfrm>
          <a:prstGeom prst="rect">
            <a:avLst/>
          </a:prstGeom>
          <a:solidFill>
            <a:srgbClr val="C84C5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3" name="Text 21"/>
          <p:cNvSpPr txBox="1"/>
          <p:nvPr/>
        </p:nvSpPr>
        <p:spPr>
          <a:xfrm>
            <a:off x="7543800" y="29443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33009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TV Shows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977640" y="3328416"/>
            <a:ext cx="3474720" cy="329184"/>
          </a:xfrm>
          <a:prstGeom prst="rect">
            <a:avLst/>
          </a:prstGeom>
          <a:solidFill>
            <a:srgbClr val="EDC0C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6" name="Text 24"/>
          <p:cNvSpPr txBox="1"/>
          <p:nvPr/>
        </p:nvSpPr>
        <p:spPr>
          <a:xfrm>
            <a:off x="3977640" y="33284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297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43800" y="3328416"/>
            <a:ext cx="3474720" cy="329184"/>
          </a:xfrm>
          <a:prstGeom prst="rect">
            <a:avLst/>
          </a:prstGeom>
          <a:solidFill>
            <a:srgbClr val="D5767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8" name="Text 26"/>
          <p:cNvSpPr txBox="1"/>
          <p:nvPr/>
        </p:nvSpPr>
        <p:spPr>
          <a:xfrm>
            <a:off x="7543800" y="33284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36850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Documentaries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977640" y="3712464"/>
            <a:ext cx="3474720" cy="329184"/>
          </a:xfrm>
          <a:prstGeom prst="rect">
            <a:avLst/>
          </a:prstGeom>
          <a:solidFill>
            <a:srgbClr val="EEC4C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1" name="Text 29"/>
          <p:cNvSpPr txBox="1"/>
          <p:nvPr/>
        </p:nvSpPr>
        <p:spPr>
          <a:xfrm>
            <a:off x="3977640" y="37124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543800" y="3712464"/>
            <a:ext cx="3474720" cy="329184"/>
          </a:xfrm>
          <a:prstGeom prst="rect">
            <a:avLst/>
          </a:prstGeom>
          <a:solidFill>
            <a:srgbClr val="ECBDB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3" name="Text 31"/>
          <p:cNvSpPr txBox="1"/>
          <p:nvPr/>
        </p:nvSpPr>
        <p:spPr>
          <a:xfrm>
            <a:off x="7543800" y="37124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309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14400" y="40690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&amp; Adventure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977640" y="4096512"/>
            <a:ext cx="3474720" cy="329184"/>
          </a:xfrm>
          <a:prstGeom prst="rect">
            <a:avLst/>
          </a:prstGeom>
          <a:solidFill>
            <a:srgbClr val="F8E2E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6" name="Text 34"/>
          <p:cNvSpPr txBox="1"/>
          <p:nvPr/>
        </p:nvSpPr>
        <p:spPr>
          <a:xfrm>
            <a:off x="3977640" y="40965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543800" y="4096512"/>
            <a:ext cx="3474720" cy="329184"/>
          </a:xfrm>
          <a:prstGeom prst="rect">
            <a:avLst/>
          </a:prstGeom>
          <a:solidFill>
            <a:srgbClr val="E6ABA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8" name="Text 36"/>
          <p:cNvSpPr txBox="1"/>
          <p:nvPr/>
        </p:nvSpPr>
        <p:spPr>
          <a:xfrm>
            <a:off x="7543800" y="40965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398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14400" y="44531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Dramas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977640" y="4480560"/>
            <a:ext cx="3474720" cy="329184"/>
          </a:xfrm>
          <a:prstGeom prst="rect">
            <a:avLst/>
          </a:prstGeom>
          <a:solidFill>
            <a:srgbClr val="F4D8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1" name="Text 39"/>
          <p:cNvSpPr txBox="1"/>
          <p:nvPr/>
        </p:nvSpPr>
        <p:spPr>
          <a:xfrm>
            <a:off x="3977640" y="44805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543800" y="4480560"/>
            <a:ext cx="3474720" cy="329184"/>
          </a:xfrm>
          <a:prstGeom prst="rect">
            <a:avLst/>
          </a:prstGeom>
          <a:solidFill>
            <a:srgbClr val="E7AEB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3" name="Text 41"/>
          <p:cNvSpPr txBox="1"/>
          <p:nvPr/>
        </p:nvSpPr>
        <p:spPr>
          <a:xfrm>
            <a:off x="7543800" y="44805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387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14400" y="48371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Movies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977640" y="4864608"/>
            <a:ext cx="3474720" cy="329184"/>
          </a:xfrm>
          <a:prstGeom prst="rect">
            <a:avLst/>
          </a:prstGeom>
          <a:solidFill>
            <a:srgbClr val="F6DDD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6" name="Text 44"/>
          <p:cNvSpPr txBox="1"/>
          <p:nvPr/>
        </p:nvSpPr>
        <p:spPr>
          <a:xfrm>
            <a:off x="3977640" y="48646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543800" y="4864608"/>
            <a:ext cx="3474720" cy="329184"/>
          </a:xfrm>
          <a:prstGeom prst="rect">
            <a:avLst/>
          </a:prstGeom>
          <a:solidFill>
            <a:srgbClr val="E9B5B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8" name="Text 46"/>
          <p:cNvSpPr txBox="1"/>
          <p:nvPr/>
        </p:nvSpPr>
        <p:spPr>
          <a:xfrm>
            <a:off x="7543800" y="48646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914400" y="522122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&amp; Family Movies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3977640" y="5248656"/>
            <a:ext cx="3474720" cy="329184"/>
          </a:xfrm>
          <a:prstGeom prst="rect">
            <a:avLst/>
          </a:prstGeom>
          <a:solidFill>
            <a:srgbClr val="FAE8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1" name="Text 49"/>
          <p:cNvSpPr txBox="1"/>
          <p:nvPr/>
        </p:nvSpPr>
        <p:spPr>
          <a:xfrm>
            <a:off x="3977640" y="524865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543800" y="5248656"/>
            <a:ext cx="3474720" cy="329184"/>
          </a:xfrm>
          <a:prstGeom prst="rect">
            <a:avLst/>
          </a:prstGeom>
          <a:solidFill>
            <a:srgbClr val="EBBBB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3" name="Text 51"/>
          <p:cNvSpPr txBox="1"/>
          <p:nvPr/>
        </p:nvSpPr>
        <p:spPr>
          <a:xfrm>
            <a:off x="7543800" y="524865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319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914400" y="560527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Romantic Movies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3977640" y="5632704"/>
            <a:ext cx="3474720" cy="329184"/>
          </a:xfrm>
          <a:prstGeom prst="rect">
            <a:avLst/>
          </a:prstGeom>
          <a:solidFill>
            <a:srgbClr val="FBEC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6" name="Text 54"/>
          <p:cNvSpPr txBox="1"/>
          <p:nvPr/>
        </p:nvSpPr>
        <p:spPr>
          <a:xfrm>
            <a:off x="3977640" y="56327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543800" y="5632704"/>
            <a:ext cx="3474720" cy="329184"/>
          </a:xfrm>
          <a:prstGeom prst="rect">
            <a:avLst/>
          </a:prstGeom>
          <a:solidFill>
            <a:srgbClr val="EAB8B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8" name="Text 56"/>
          <p:cNvSpPr txBox="1"/>
          <p:nvPr/>
        </p:nvSpPr>
        <p:spPr>
          <a:xfrm>
            <a:off x="7543800" y="56327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336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914400" y="612648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Darker cells = higher title counts. This is the same genre × period data behind the chi-square test on the next slide.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739896" cy="384048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Shape 1"/>
          <p:cNvSpPr/>
          <p:nvPr/>
        </p:nvSpPr>
        <p:spPr>
          <a:xfrm rot="5400000">
            <a:off x="704088" y="507492"/>
            <a:ext cx="118872" cy="137160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4" name="Text 2"/>
          <p:cNvSpPr txBox="1"/>
          <p:nvPr/>
        </p:nvSpPr>
        <p:spPr>
          <a:xfrm>
            <a:off x="886968" y="365760"/>
            <a:ext cx="3355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REAL, OR RANDOM?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96112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Tests, Two Different Answers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5166360" cy="4297680"/>
          </a:xfrm>
          <a:prstGeom prst="roundRect">
            <a:avLst>
              <a:gd name="adj" fmla="val 2553"/>
            </a:avLst>
          </a:prstGeom>
          <a:solidFill>
            <a:srgbClr val="FBECEC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7" name="Text 5"/>
          <p:cNvSpPr txBox="1"/>
          <p:nvPr/>
        </p:nvSpPr>
        <p:spPr>
          <a:xfrm>
            <a:off x="1005840" y="2011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1: Genre Mix vs. Time Period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5176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χ²(9, N=7,627) = 178.05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&lt; .001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Cramér's V = .146 (modest effect)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4434840"/>
            <a:ext cx="4526280" cy="594360"/>
          </a:xfrm>
          <a:prstGeom prst="roundRect">
            <a:avLst>
              <a:gd name="adj" fmla="val 15385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0" name="Text 8"/>
          <p:cNvSpPr txBox="1"/>
          <p:nvPr/>
        </p:nvSpPr>
        <p:spPr>
          <a:xfrm>
            <a:off x="1005840" y="443484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H0 — Significant Shift Confirmed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783080"/>
            <a:ext cx="5166360" cy="4297680"/>
          </a:xfrm>
          <a:prstGeom prst="roundRect">
            <a:avLst>
              <a:gd name="adj" fmla="val 2553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2" name="Text 10"/>
          <p:cNvSpPr txBox="1"/>
          <p:nvPr/>
        </p:nvSpPr>
        <p:spPr>
          <a:xfrm>
            <a:off x="6629400" y="2011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2: Format (Movie vs. TV) vs. Time Period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65176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χ²(1, N=5,824) = 0.03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.859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Cramér's V = .002 (negligible)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29400" y="4434840"/>
            <a:ext cx="4526280" cy="594360"/>
          </a:xfrm>
          <a:prstGeom prst="roundRect">
            <a:avLst>
              <a:gd name="adj" fmla="val 15385"/>
            </a:avLst>
          </a:prstGeom>
          <a:solidFill>
            <a:srgbClr val="221F1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5" name="Text 13"/>
          <p:cNvSpPr txBox="1"/>
          <p:nvPr/>
        </p:nvSpPr>
        <p:spPr>
          <a:xfrm>
            <a:off x="6629400" y="443484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TO REJECT H0 — No Significant Shift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369564" cy="384048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Shape 1"/>
          <p:cNvSpPr/>
          <p:nvPr/>
        </p:nvSpPr>
        <p:spPr>
          <a:xfrm rot="5400000">
            <a:off x="704088" y="507492"/>
            <a:ext cx="118872" cy="137160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4" name="Text 2"/>
          <p:cNvSpPr txBox="1"/>
          <p:nvPr/>
        </p:nvSpPr>
        <p:spPr>
          <a:xfrm>
            <a:off x="886968" y="365760"/>
            <a:ext cx="2985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RELIABLE IS THIS?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96112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Country Data Isn't Random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31520" y="1600200"/>
          <a:ext cx="106984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Missingness is stable across time periods (5.1% early vs. 6.7% recent) — the core growth finding is not meaningfully biased. But it's concentrated by genre, shown above.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628900" cy="384048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Shape 1"/>
          <p:cNvSpPr/>
          <p:nvPr/>
        </p:nvSpPr>
        <p:spPr>
          <a:xfrm rot="5400000">
            <a:off x="704088" y="507492"/>
            <a:ext cx="118872" cy="137160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4" name="Text 2"/>
          <p:cNvSpPr txBox="1"/>
          <p:nvPr/>
        </p:nvSpPr>
        <p:spPr>
          <a:xfrm>
            <a:off x="886968" y="365760"/>
            <a:ext cx="2244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96112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Should Netflix Invest Next?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7" name="Text 5"/>
          <p:cNvSpPr txBox="1"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6916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mix has shifted — significantly, but modestly.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03911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change is statistically real (p &lt; .001), not a wholesale catalog transformation.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1" name="Text 9"/>
          <p:cNvSpPr txBox="1"/>
          <p:nvPr/>
        </p:nvSpPr>
        <p:spPr>
          <a:xfrm>
            <a:off x="50292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6517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Romance, Comedy &amp; Family content are the clear growth leaders.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9992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grew over 200% from 2016–17 to 2019–20, while Documentaries grew just 12%.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657600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5" name="Text 13"/>
          <p:cNvSpPr txBox="1"/>
          <p:nvPr/>
        </p:nvSpPr>
        <p:spPr>
          <a:xfrm>
            <a:off x="50292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6118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growth isn't a format play.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95935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Movie/TV Show split stayed flat (32.8% → 32.5% TV Shows) — growth is happening within both formats.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617720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9" name="Text 17"/>
          <p:cNvSpPr txBox="1"/>
          <p:nvPr/>
        </p:nvSpPr>
        <p:spPr>
          <a:xfrm>
            <a:off x="50292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5720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hold — with one caveat.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9194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Country-level claims for International TV Shows, TV Dramas &amp; Family content carry more metadata risk.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382012" cy="384048"/>
          </a:xfrm>
          <a:prstGeom prst="roundRect">
            <a:avLst>
              <a:gd name="adj" fmla="val 19048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Shape 1"/>
          <p:cNvSpPr/>
          <p:nvPr/>
        </p:nvSpPr>
        <p:spPr>
          <a:xfrm rot="5400000">
            <a:off x="704088" y="507492"/>
            <a:ext cx="118872" cy="137160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4" name="Text 2"/>
          <p:cNvSpPr txBox="1"/>
          <p:nvPr/>
        </p:nvSpPr>
        <p:spPr>
          <a:xfrm>
            <a:off x="886968" y="365760"/>
            <a:ext cx="19979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96112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References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7373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14884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is a partial year — excluded from growth comparisons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2008–2015 combined have under 150 titles — excluded as noise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is a snapshot; removed titles aren't captured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director/cast/country gaps retained as “Unknown,” not dropped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describe Netflix's own catalog only, not competitors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148840"/>
            <a:ext cx="5303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Titles Dataset — Bansal / TidyTuesday (2021) — dataset used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McHugh (2013), Biochemia Medica — chi-square methodology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Inc. 2020 Proxy Statement (SEC Form DEF 14A) — content investment context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2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-2286000" y="2926080"/>
            <a:ext cx="5486400" cy="5486400"/>
          </a:xfrm>
          <a:prstGeom prst="triangle">
            <a:avLst/>
          </a:prstGeom>
          <a:solidFill>
            <a:srgbClr val="E50914">
              <a:alpha val="10000"/>
            </a:srgbClr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Shape 1"/>
          <p:cNvSpPr/>
          <p:nvPr/>
        </p:nvSpPr>
        <p:spPr>
          <a:xfrm rot="5400000">
            <a:off x="8961120" y="-2011680"/>
            <a:ext cx="3657600" cy="3657600"/>
          </a:xfrm>
          <a:prstGeom prst="triangle">
            <a:avLst/>
          </a:prstGeom>
          <a:solidFill>
            <a:srgbClr val="E50914">
              <a:alpha val="8000"/>
            </a:srgbClr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4" name="Text 2"/>
          <p:cNvSpPr txBox="1"/>
          <p:nvPr/>
        </p:nvSpPr>
        <p:spPr>
          <a:xfrm>
            <a:off x="0" y="246888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0" y="36118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Michael Ngugi, CDAV Capstone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729</Words>
  <Application>Microsoft Office PowerPoint</Application>
  <PresentationFormat>Widescreen</PresentationFormat>
  <Paragraphs>142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Mike Nganga</cp:lastModifiedBy>
  <cp:revision>1</cp:revision>
  <dcterms:created xsi:type="dcterms:W3CDTF">2026-09-08T09:10:00Z</dcterms:created>
  <dcterms:modified xsi:type="dcterms:W3CDTF">2026-09-08T13:20:05Z</dcterms:modified>
</cp:coreProperties>
</file>